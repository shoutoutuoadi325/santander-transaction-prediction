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2563EB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2286000"/>
            <a:ext cx="5029200" cy="5029200"/>
          </a:xfrm>
          <a:prstGeom prst="ellipse">
            <a:avLst/>
          </a:prstGeom>
          <a:solidFill>
            <a:srgbClr val="06B6D4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8B5CF6">
              <a:alpha val="12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40080" y="77724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 MINING  ·  FINAL 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用三个真实数据集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完成一次属于自己的数据挖掘研究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64592" cy="16459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0" name="Text 8"/>
          <p:cNvSpPr/>
          <p:nvPr/>
        </p:nvSpPr>
        <p:spPr>
          <a:xfrm>
            <a:off x="914400" y="40507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支付欺诈检测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4160520"/>
            <a:ext cx="164592" cy="16459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2" name="Text 10"/>
          <p:cNvSpPr/>
          <p:nvPr/>
        </p:nvSpPr>
        <p:spPr>
          <a:xfrm>
            <a:off x="3611880" y="40507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酒店推荐预测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4160520"/>
            <a:ext cx="164592" cy="164592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2"/>
          <p:cNvSpPr/>
          <p:nvPr/>
        </p:nvSpPr>
        <p:spPr>
          <a:xfrm>
            <a:off x="6309360" y="40507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客户交易预测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  ·  聚类  ·  频繁模式挖掘  ·  离群点检测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6126480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助教组   ·   2026 春季学期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三个数据集 · 三种现实场景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以下三个 Kaggle 公开数据集任选其一作为研究对象 — 不再要求向 Kaggle 提交结果，重点在课内方法的应用与分析。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36576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286000"/>
            <a:ext cx="3657600" cy="50292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9" name="Shape 7"/>
          <p:cNvSpPr/>
          <p:nvPr/>
        </p:nvSpPr>
        <p:spPr>
          <a:xfrm>
            <a:off x="411480" y="2532888"/>
            <a:ext cx="3657600" cy="25603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0" name="Text 8"/>
          <p:cNvSpPr/>
          <p:nvPr/>
        </p:nvSpPr>
        <p:spPr>
          <a:xfrm>
            <a:off x="731520" y="23774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 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信用卡支付欺诈检测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3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IEEE-CIS Fraud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01752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7939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59 万笔训练交易 / 393 维特征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73659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任务性质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99262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二分类  ·  极端不平衡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44982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适用方法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70585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 + 离群检测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2286000"/>
            <a:ext cx="36576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2286000"/>
            <a:ext cx="3657600" cy="5029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2" name="Shape 20"/>
          <p:cNvSpPr/>
          <p:nvPr/>
        </p:nvSpPr>
        <p:spPr>
          <a:xfrm>
            <a:off x="4251960" y="2532888"/>
            <a:ext cx="3657600" cy="25603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3" name="Text 21"/>
          <p:cNvSpPr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 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297180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酒店预订聚类推荐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33832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Expedia Hotel Recommendations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840480"/>
            <a:ext cx="301752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02336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27939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3700 万次会话 / 100 个酒店簇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0" y="473659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任务性质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99262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多分类  ·  推荐 / 聚类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44982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适用方法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70585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 + 分类 + 关联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92440" y="2286000"/>
            <a:ext cx="36576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92440" y="2286000"/>
            <a:ext cx="3657600" cy="5029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5" name="Shape 33"/>
          <p:cNvSpPr/>
          <p:nvPr/>
        </p:nvSpPr>
        <p:spPr>
          <a:xfrm>
            <a:off x="8092440" y="2532888"/>
            <a:ext cx="3657600" cy="256032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6" name="Text 34"/>
          <p:cNvSpPr/>
          <p:nvPr/>
        </p:nvSpPr>
        <p:spPr>
          <a:xfrm>
            <a:off x="8412480" y="23774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 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0" y="297180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客户交易倾向预测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412480" y="33832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Santander Customer Transaction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3840480"/>
            <a:ext cx="301752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02336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27939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万样本 / 200 维匿名数值特征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412480" y="473659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任务性质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12480" y="499262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二分类  ·  弱信号 / 同分布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412480" y="544982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适用方法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570585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 + 特征/分布分析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01  ·  ANTI-FRAUD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IEEE-CIS  Fraud  Detection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04120" y="457200"/>
            <a:ext cx="1508760" cy="45720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7" name="Text 5"/>
          <p:cNvSpPr/>
          <p:nvPr/>
        </p:nvSpPr>
        <p:spPr>
          <a:xfrm>
            <a:off x="10104120" y="45720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1 / 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96.5% 的正常交易里，找出那剩下 3.5% 的支付欺诈 — 一道经典的强不平衡二分类。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任务类型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二分类 / 异常检测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评估视角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8848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ROC-AUC + PR / 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0456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0456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59 万笔 · 393 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6812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4930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数据画像  ·  关键挑战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&amp; CHALLENGES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极端类别不平衡 — 正负比约 3.5 : 96.5，朴素模型会把所有样本判为正常。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高基数类别变量 — 设备指纹 / IP / 邮箱 / 商户 ID 唯一值数以万计，One-Hot 直接爆。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明显的时间漂移 — 训练 / 测试官方按时间切，欺诈模式随月份演化。随机 KFold 即泄露。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字段含义匿名化 — C1–C14 / D1–D15 等只有编号，需要靠分布与相关性反推语义。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3383280"/>
            <a:ext cx="4069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34930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推荐方法栈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37947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METHOD  STACK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4096512"/>
            <a:ext cx="91440" cy="1828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6" name="Text 24"/>
          <p:cNvSpPr/>
          <p:nvPr/>
        </p:nvSpPr>
        <p:spPr>
          <a:xfrm>
            <a:off x="7955280" y="406908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GBDT 系列分类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428853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LightGBM / XGBoost + 类别权重 / 焦点损失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4581144"/>
            <a:ext cx="91440" cy="1828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9" name="Text 27"/>
          <p:cNvSpPr/>
          <p:nvPr/>
        </p:nvSpPr>
        <p:spPr>
          <a:xfrm>
            <a:off x="7955280" y="455371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孤立森林 / LOF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0" y="477316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把欺诈作为离群点处理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5065776"/>
            <a:ext cx="91440" cy="1828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2" name="Text 30"/>
          <p:cNvSpPr/>
          <p:nvPr/>
        </p:nvSpPr>
        <p:spPr>
          <a:xfrm>
            <a:off x="7955280" y="503834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目标编码 + 平滑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525780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高基数类别的关键技巧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5550408"/>
            <a:ext cx="91440" cy="1828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5" name="Text 33"/>
          <p:cNvSpPr/>
          <p:nvPr/>
        </p:nvSpPr>
        <p:spPr>
          <a:xfrm>
            <a:off x="7955280" y="552297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时间感知验证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55280" y="574243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TransactionDT 前向滚动切分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6035040"/>
            <a:ext cx="91440" cy="1828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8" name="Text 36"/>
          <p:cNvSpPr/>
          <p:nvPr/>
        </p:nvSpPr>
        <p:spPr>
          <a:xfrm>
            <a:off x="7955280" y="600760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阈值与代价分析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955280" y="622706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 PR 曲线与业务代价矩阵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02  · 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Expedia  Hotel  Recommendations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04120" y="457200"/>
            <a:ext cx="1508760" cy="4572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7" name="Text 5"/>
          <p:cNvSpPr/>
          <p:nvPr/>
        </p:nvSpPr>
        <p:spPr>
          <a:xfrm>
            <a:off x="10104120" y="45720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2 / 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依据用户搜索 / 点击 / 预订行为，把每次会话映射到 100 个酒店聚类之一 — 推荐 + 聚类的混合任务。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任务类型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多分类 / 推荐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评估视角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8848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MAP@5  /  Top-K 命中率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0456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0456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3700 万 · 100 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6812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4930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数据画像  ·  关键挑战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&amp; CHALLENGES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目标本身就是聚类 — 标签 hotel_cluster 是 Expedia 内部聚类结果，不是真酒店 ID。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 vs. 预订双信号 — is_booking 标记区分浏览与下单，权重需要分别处理。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极度长尾 — 用户 / 目的地 / 设备分布严重幂律，少量热门簇支配评估。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时空 + 上下文特征 — 出行日期 / 入住时长 / 国家 / 渠道相互纠缠，需要交叉特征。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3383280"/>
            <a:ext cx="4069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34930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推荐方法栈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37947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METHOD  STACK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4096512"/>
            <a:ext cx="91440" cy="1828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6" name="Text 24"/>
          <p:cNvSpPr/>
          <p:nvPr/>
        </p:nvSpPr>
        <p:spPr>
          <a:xfrm>
            <a:off x="7955280" y="406908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 / 层次聚类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428853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复刻 / 验证目标聚类结构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4581144"/>
            <a:ext cx="91440" cy="1828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9" name="Text 27"/>
          <p:cNvSpPr/>
          <p:nvPr/>
        </p:nvSpPr>
        <p:spPr>
          <a:xfrm>
            <a:off x="7955280" y="455371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频繁模式挖掘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0" y="477316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Apriori / FP-Growth 找共现目的地组合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5065776"/>
            <a:ext cx="91440" cy="1828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2" name="Text 30"/>
          <p:cNvSpPr/>
          <p:nvPr/>
        </p:nvSpPr>
        <p:spPr>
          <a:xfrm>
            <a:off x="7955280" y="503834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协同过滤 + Embedding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525780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 × destination × cluster 矩阵分解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5550408"/>
            <a:ext cx="91440" cy="1828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5" name="Text 33"/>
          <p:cNvSpPr/>
          <p:nvPr/>
        </p:nvSpPr>
        <p:spPr>
          <a:xfrm>
            <a:off x="7955280" y="552297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梯度提升多分类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55280" y="574243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对热门簇做 Top-K 直推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6035040"/>
            <a:ext cx="91440" cy="1828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8" name="Text 36"/>
          <p:cNvSpPr/>
          <p:nvPr/>
        </p:nvSpPr>
        <p:spPr>
          <a:xfrm>
            <a:off x="7955280" y="600760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MAP@5 阈值评估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955280" y="622706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对应多标签 / Top-K 评估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03  ·  TRANSACTION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Santander  Customer  Transaction  Prediction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04120" y="457200"/>
            <a:ext cx="1508760" cy="4572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7" name="Text 5"/>
          <p:cNvSpPr/>
          <p:nvPr/>
        </p:nvSpPr>
        <p:spPr>
          <a:xfrm>
            <a:off x="10104120" y="45720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3 / 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 维匿名数值特征，预测客户是否会发生某笔特定交易 — 弱信号 + 同分布带来的硬骨头。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任务类型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二分类 / 概率排序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评估视角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8848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ROC-AUC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0456" y="2423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0456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万训练 + 20 万测试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6812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4930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数据画像  ·  关键挑战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&amp; CHALLENGES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特征完全匿名 — var_0 ~ var_199 全为脱敏数值，没有任何业务语义可直接借用。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 / 测试同分布 — 测试集藏有合成样本，先甄别真伪再建模是高分团队的关键。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正例稀疏 (≈ 10%) — 正负失衡程度温和但仍偏斜，需对比代价敏感与重采样。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看似独立其实弱相关 — 字段对单变量近似独立，但联合分布里藏有信号。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3383280"/>
            <a:ext cx="4069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34930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推荐方法栈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37947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METHOD  STACK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4096512"/>
            <a:ext cx="91440" cy="1828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6" name="Text 24"/>
          <p:cNvSpPr/>
          <p:nvPr/>
        </p:nvSpPr>
        <p:spPr>
          <a:xfrm>
            <a:off x="7955280" y="406908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单变量直方建模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428853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对每个 var_i 计 KDE / WoE，迁回原书离散化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4581144"/>
            <a:ext cx="91440" cy="1828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9" name="Text 27"/>
          <p:cNvSpPr/>
          <p:nvPr/>
        </p:nvSpPr>
        <p:spPr>
          <a:xfrm>
            <a:off x="7955280" y="455371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高斯朴素贝叶斯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0" y="477316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做基线，验证 “特征独立性” 假设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5065776"/>
            <a:ext cx="91440" cy="1828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2" name="Text 30"/>
          <p:cNvSpPr/>
          <p:nvPr/>
        </p:nvSpPr>
        <p:spPr>
          <a:xfrm>
            <a:off x="7955280" y="503834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LightGBM (按行训练)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5257800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经典 frequency encoding 技巧大有用武之地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5550408"/>
            <a:ext cx="91440" cy="1828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5" name="Text 33"/>
          <p:cNvSpPr/>
          <p:nvPr/>
        </p:nvSpPr>
        <p:spPr>
          <a:xfrm>
            <a:off x="7955280" y="552297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聚类辅助分群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55280" y="5742432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GMM / KMeans 把 20 万样本切成行为子群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6035040"/>
            <a:ext cx="91440" cy="1828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8" name="Text 36"/>
          <p:cNvSpPr/>
          <p:nvPr/>
        </p:nvSpPr>
        <p:spPr>
          <a:xfrm>
            <a:off x="7955280" y="600760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 / PR 阈值搜索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955280" y="622706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对接概率排序与决策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METHOD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把课上学过的四类方法 · 用进任意一个数据集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无论选哪个项目，下面四个角度至少各覆盖一种 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14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965960" y="25146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  Classification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5960" y="289864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Decision Tree · GBDT · NB · SVM · NN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329184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1 / 3 - 直接用作主任务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65960" y="36576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2 - 把酒店簇当多分类目标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51460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7635240" y="25146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  Clustering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35240" y="289864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K-Means · DBSCAN · GMM · Hierarchical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329184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2 - 复刻 hotel_cluster 标签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35240" y="36576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1 / 3 - 客户分群作辅助特征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61772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1965960" y="461772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频繁模式  Frequent Pattern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65960" y="50017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Apriori · FP-Growth · 序列模式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53949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2 - 共现目的地 / 渠道组合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965960" y="576072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1 - 高频欺诈商户组合规则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617720"/>
            <a:ext cx="1280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Text 25"/>
          <p:cNvSpPr/>
          <p:nvPr/>
        </p:nvSpPr>
        <p:spPr>
          <a:xfrm>
            <a:off x="7635240" y="461772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离群检测  Outlier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35240" y="50017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3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iForest · LOF · 一类 SVM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53949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1 - 与监督方法对比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35240" y="576072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3 - 测试集合成样本检测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提示：数据预处理（缺失 / 离散化 / 标准化）作为前置步骤，所有项目都默认要做。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GROUND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做这件事的三个原则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219456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822960" y="2423160"/>
            <a:ext cx="54864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22960" y="2542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822960" y="32461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方法对齐课程</a:t>
            </a:r>
            <a:endParaRPr lang="en-US" sz="19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822960" y="3794760"/>
            <a:ext cx="31089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报告必须明确写出用了哪些课上讲过的方法 — 分类 / 聚类 / 频繁模式 / 离群点检测，至少两类。</a:t>
            </a:r>
            <a:endParaRPr lang="en-US" sz="1250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270248" y="219456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544568" y="2423160"/>
            <a:ext cx="54864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544568" y="2542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4544568" y="32461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结论要有证据</a:t>
            </a:r>
            <a:endParaRPr lang="en-US" sz="19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544568" y="3794760"/>
            <a:ext cx="31089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图表 / 指标 / 消融实验是底线；任何 “某方法更好” 的判断都得给出对照实验或可视化证据。</a:t>
            </a:r>
            <a:endParaRPr lang="en-US" sz="1250" dirty="0"/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7991856" y="219456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8266176" y="2423160"/>
            <a:ext cx="548640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8266176" y="2542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8266176" y="32461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工程严谨性</a:t>
            </a:r>
            <a:endParaRPr lang="en-US" sz="19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8266176" y="3794760"/>
            <a:ext cx="31089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防止数据泄露、合理切分训练 / 验证、记录随机种子 — 工程坑会扣分，写得越透明越拿分。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447675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交付物 · </a:t>
            </a:r>
            <a:r>
              <a:rPr lang="zh-CN" alt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鼓励</a:t>
            </a: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 Kaggle 提交</a:t>
            </a:r>
            <a:r>
              <a:rPr lang="zh-CN" alt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zh-CN" alt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非必需）</a:t>
            </a:r>
            <a:endParaRPr lang="zh-CN" altLang="en-US" sz="32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solidFill>
            <a:srgbClr val="111A2E"/>
          </a:solidFill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重点：</a:t>
            </a: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把这三个数据集当作研究对象，目标是 </a:t>
            </a: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一份完整的数据挖掘研究报告</a:t>
            </a: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如有</a:t>
            </a: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Leaderboard 排名</a:t>
            </a:r>
            <a:r>
              <a:rPr lang="zh-CN" alt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更好</a:t>
            </a: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269748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2697480"/>
            <a:ext cx="352044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548640" y="2898648"/>
            <a:ext cx="3520440" cy="2560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8 - 15 页</a:t>
            </a:r>
            <a:endParaRPr lang="en-US" sz="11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研究报告 (PDF)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822960" y="3886200"/>
            <a:ext cx="30175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数据画像 / 探索性分析 / 关键发现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方法选择动机 + 与课内方法的对应说明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至少两类课内方法的实验对比 (含图表)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失败案例 / 反思 / 局限性</a:t>
            </a:r>
            <a:endParaRPr lang="en-US" sz="115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270248" y="269748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4270248" y="2697480"/>
            <a:ext cx="3520440" cy="4572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4270248" y="2898648"/>
            <a:ext cx="3520440" cy="25603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544568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4544568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Notebook 或 .py</a:t>
            </a:r>
            <a:endParaRPr lang="en-US" sz="1100" dirty="0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4544568" y="33375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可复现代码</a:t>
            </a:r>
            <a:endParaRPr lang="en-US" sz="18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4544568" y="3886200"/>
            <a:ext cx="30175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README 写明环境 / 数据下载 / 运行步骤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随机种子固定，一键可复现关键图表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数据预处理 / 训练 / 评估 三段清晰分层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 Kaggle 提交，本地评估即可</a:t>
            </a:r>
            <a:r>
              <a:rPr lang="zh-CN" alt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，也鼓励进行</a:t>
            </a:r>
            <a:r>
              <a:rPr lang="zh-CN" alt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</a:t>
            </a:r>
            <a:endParaRPr lang="zh-CN" altLang="en-US" sz="115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7991856" y="269748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7991856" y="2697480"/>
            <a:ext cx="352044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7991856" y="2898648"/>
            <a:ext cx="3520440" cy="25603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266176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</a:t>
            </a:r>
            <a:endParaRPr lang="zh-CN" altLang="en-US" sz="1200" b="1" kern="0" spc="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8266176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</a:t>
            </a:r>
            <a:r>
              <a:rPr lang="zh-CN" altLang="en-US" sz="1100" dirty="0">
                <a:solidFill>
                  <a:srgbClr val="FFFFFF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分享，</a:t>
            </a:r>
            <a:r>
              <a:rPr lang="zh-CN" altLang="en-US" sz="1100" dirty="0">
                <a:solidFill>
                  <a:srgbClr val="FFFFFF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加分</a:t>
            </a:r>
            <a:endParaRPr lang="zh-CN" altLang="en-US" sz="1100" dirty="0">
              <a:solidFill>
                <a:srgbClr val="FFFFFF">
                  <a:alpha val="6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8266176" y="33375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分钟</a:t>
            </a:r>
            <a:r>
              <a:rPr lang="zh-CN" alt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</a:t>
            </a: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PPT</a:t>
            </a:r>
            <a:endParaRPr lang="en-US" sz="1800" dirty="0"/>
          </a:p>
        </p:txBody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8266176" y="3886200"/>
            <a:ext cx="30175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讲清楚为什么选这些方法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至少一张关键图能让人 5 秒读懂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回答 “最让你困惑的一点是什么”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如组队请说明分工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推荐参考的两本教材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不再绑定具体章节 — 哪一章对得上你做的内容，自己在报告里说清楚即可。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" name="Image 0" descr="D:\kw\研究生课程\数据挖掘技术\期末大作业\assets\book_h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51760"/>
            <a:ext cx="1874520" cy="2606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71800" y="26517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数据挖掘：概念与技术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971800" y="310896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 Mining: Concepts and Techniques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971800" y="3520440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Jiawei Han, Micheline Kamber, Jian Pei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71800" y="411480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机械工业出版社  ·  原书第 3 版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71800" y="4526280"/>
            <a:ext cx="2194560" cy="31089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1"/>
          <p:cNvSpPr/>
          <p:nvPr/>
        </p:nvSpPr>
        <p:spPr>
          <a:xfrm>
            <a:off x="2971800" y="452628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体系完整 · 概念严谨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71800" y="5029200"/>
            <a:ext cx="2697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覆盖数据预处理、频繁模式、分类、聚类与离群挖掘，正好对应本作业的四个角度。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63640" y="233172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7" name="Image 1" descr="D:\kw\研究生课程\数据挖掘技术\期末大作业\assets\book_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51760"/>
            <a:ext cx="1874520" cy="2606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686800" y="26517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数据挖掘导论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686800" y="310896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Introduction to Data Mining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686800" y="3520440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Pang-Ning Tan, Michael Steinbach, Vipin Kumar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686800" y="411480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人民邮电出版社  ·  完整版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686800" y="4526280"/>
            <a:ext cx="2194560" cy="310896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3" name="Text 19"/>
          <p:cNvSpPr/>
          <p:nvPr/>
        </p:nvSpPr>
        <p:spPr>
          <a:xfrm>
            <a:off x="8686800" y="452628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例题丰富 · 易上手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0" y="5029200"/>
            <a:ext cx="2697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围绕数据 / 分类 / 关联分析 / 聚类 / 异常检测五大主题，配有大量例题与可读图示。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GRADING &amp;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评分维度 &amp; 关键时间节点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7665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评分维度  ·  共 100 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GRADING  RUBRIC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86868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777240" y="278892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78892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数据探索 &amp; 画像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30632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 / 分布 / 缺失 / 时间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447288"/>
            <a:ext cx="86868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777240" y="344728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344728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课内方法的应用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72160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至少覆盖两类: 分类·聚类·频繁·离群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105656"/>
            <a:ext cx="86868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777240" y="4105656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105656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实验设计 &amp; 验证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437997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切分合理 / 对照清晰 / 防泄露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764024"/>
            <a:ext cx="86868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777240" y="4764024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476402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结果分析 &amp; 图表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503834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每个结论都有图表或指标支撑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422392"/>
            <a:ext cx="86868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777240" y="5422392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83080" y="542239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报告写作 &amp; </a:t>
            </a:r>
            <a:r>
              <a:rPr lang="zh-CN" alt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</a:t>
            </a:r>
            <a:endParaRPr lang="zh-CN" altLang="en-US" sz="13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83080" y="569671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讲得清楚 + </a:t>
            </a:r>
            <a:r>
              <a:rPr lang="zh-CN" alt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得上来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0" y="1828800"/>
            <a:ext cx="4114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778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关键时间节点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26680" y="2377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63840" y="2880360"/>
            <a:ext cx="36576" cy="3200400"/>
          </a:xfrm>
          <a:prstGeom prst="rect">
            <a:avLst/>
          </a:prstGeom>
          <a:solidFill>
            <a:srgbClr val="E5E9F0"/>
          </a:solidFill>
        </p:spPr>
      </p:sp>
      <p:sp>
        <p:nvSpPr>
          <p:cNvPr id="33" name="Shape 31"/>
          <p:cNvSpPr/>
          <p:nvPr/>
        </p:nvSpPr>
        <p:spPr>
          <a:xfrm>
            <a:off x="7726680" y="2880360"/>
            <a:ext cx="310896" cy="310896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7F8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28346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8 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304495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选题发布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83880" y="3337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助教组发题, 各组确认 (1 - 3 人)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26680" y="3657600"/>
            <a:ext cx="310896" cy="310896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7F8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12 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83880" y="382219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提交截止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83880" y="41148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上交研究报告 + 可运行代码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726680" y="4434840"/>
            <a:ext cx="310896" cy="310896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7F8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43891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13 - 14 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83880" y="459943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</a:t>
            </a:r>
            <a:r>
              <a:rPr lang="zh-CN" alt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</a:t>
            </a:r>
            <a:endParaRPr lang="zh-CN" altLang="en-US" sz="13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183880" y="4892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各组 15 min 讲解 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 ·  期末大作业  ·  三个 Kaggle 数据集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2563EB">
              <a:alpha val="16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-1371600"/>
            <a:ext cx="4114800" cy="41148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" y="1463040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挑一个数据集，用课上学过的方法把它讲透。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分数来自方法的深度，不来自排行榜。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1280160" cy="7315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9" name="Shape 7"/>
          <p:cNvSpPr/>
          <p:nvPr/>
        </p:nvSpPr>
        <p:spPr>
          <a:xfrm>
            <a:off x="2194560" y="5074920"/>
            <a:ext cx="1280160" cy="7315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0" name="Shape 8"/>
          <p:cNvSpPr/>
          <p:nvPr/>
        </p:nvSpPr>
        <p:spPr>
          <a:xfrm>
            <a:off x="3657600" y="5074920"/>
            <a:ext cx="1280160" cy="73152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1" name="Text 9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数据挖掘技术 · 助教组   ·   随时来问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2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3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4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5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6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7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8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9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0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1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2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3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4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5.xml><?xml version="1.0" encoding="utf-8"?>
<p:tagLst xmlns:p="http://schemas.openxmlformats.org/presentationml/2006/main">
  <p:tag name="KSO_WM_DIAGRAM_VIRTUALLY_FRAME" val="{&quot;height&quot;:309.6,&quot;left&quot;:43.2,&quot;top&quot;:172.8,&quot;width&quot;:863.28}"/>
</p:tagLst>
</file>

<file path=ppt/tags/tag16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17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18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19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0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1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2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3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4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5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6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7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8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29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0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1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2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3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4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5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ags/tag36.xml><?xml version="1.0" encoding="utf-8"?>
<p:tagLst xmlns:p="http://schemas.openxmlformats.org/presentationml/2006/main">
  <p:tag name="KSO_WM_DIAGRAM_VIRTUALLY_FRAME" val="{&quot;height&quot;:284.4,&quot;left&quot;:43.2,&quot;top&quot;:212.4,&quot;width&quot;:863.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4266</Words>
  <Application>WPS 演示</Application>
  <PresentationFormat>On-screen Show (16:9)</PresentationFormat>
  <Paragraphs>482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数据挖掘技术 期末大作业 - 三个 Kaggle 数据集</dc:title>
  <dc:creator>数据挖掘技术 助教组</dc:creator>
  <dc:subject>PptxGenJS Presentation</dc:subject>
  <cp:lastModifiedBy>洪中华</cp:lastModifiedBy>
  <cp:revision>4</cp:revision>
  <dcterms:created xsi:type="dcterms:W3CDTF">2026-04-27T12:45:00Z</dcterms:created>
  <dcterms:modified xsi:type="dcterms:W3CDTF">2026-04-30T02:49:18Z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71B8AA9DA01B4CF6800AE16C6306A3F8_12</vt:lpwstr>
  </property>
</Properties>
</file>